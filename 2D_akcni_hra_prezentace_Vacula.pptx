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60" r:id="rId4"/>
    <p:sldId id="261" r:id="rId5"/>
    <p:sldId id="267" r:id="rId6"/>
    <p:sldId id="270" r:id="rId7"/>
    <p:sldId id="269" r:id="rId8"/>
    <p:sldId id="271" r:id="rId9"/>
    <p:sldId id="272" r:id="rId10"/>
    <p:sldId id="273" r:id="rId11"/>
    <p:sldId id="274" r:id="rId12"/>
    <p:sldId id="275" r:id="rId13"/>
    <p:sldId id="276" r:id="rId14"/>
    <p:sldId id="277" r:id="rId15"/>
    <p:sldId id="278" r:id="rId16"/>
    <p:sldId id="279" r:id="rId17"/>
    <p:sldId id="280" r:id="rId18"/>
    <p:sldId id="281" r:id="rId19"/>
    <p:sldId id="282" r:id="rId20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79661" autoAdjust="0"/>
  </p:normalViewPr>
  <p:slideViewPr>
    <p:cSldViewPr snapToGrid="0">
      <p:cViewPr varScale="1">
        <p:scale>
          <a:sx n="88" d="100"/>
          <a:sy n="88" d="100"/>
        </p:scale>
        <p:origin x="147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5CF183-343B-40C0-9425-03B0B39C2626}" type="datetimeFigureOut">
              <a:rPr lang="cs-CZ" smtClean="0"/>
              <a:t>13.05.2026</a:t>
            </a:fld>
            <a:endParaRPr lang="cs-CZ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2A5AF6-94FD-46F0-A849-88B0C846D65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0392564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cs-CZ" dirty="0" err="1"/>
              <a:t>Engine</a:t>
            </a:r>
            <a:r>
              <a:rPr lang="cs-CZ" dirty="0"/>
              <a:t> GODOT jsem si vybral z důvodu jeho jednoduchosti a popularity, kdy se jedná o jeden z nejznámějších </a:t>
            </a:r>
            <a:r>
              <a:rPr lang="cs-CZ" dirty="0" err="1"/>
              <a:t>enginů</a:t>
            </a:r>
            <a:r>
              <a:rPr lang="cs-CZ" dirty="0"/>
              <a:t> pro tvorbu 2D her, který není nějak náročný na naučení a přesto efektivní</a:t>
            </a:r>
          </a:p>
          <a:p>
            <a:pPr lvl="0"/>
            <a:r>
              <a:rPr lang="cs-CZ" dirty="0"/>
              <a:t>Grafiku pixel-art jsem si vybral z důvodu jednoduchosti a retro atmosféry, jelikož jako malý jsem sám spoustu her v pixel-art hrál a vždy se mi tento styl líbil</a:t>
            </a:r>
          </a:p>
          <a:p>
            <a:pPr lvl="0"/>
            <a:r>
              <a:rPr lang="cs-CZ" dirty="0"/>
              <a:t>Na tvorbu pixel art grafiky jsem použil 2 nástroje – Adobe Photoshop a </a:t>
            </a:r>
            <a:r>
              <a:rPr lang="cs-CZ" dirty="0" err="1"/>
              <a:t>Pixeolorama</a:t>
            </a:r>
            <a:endParaRPr lang="cs-CZ" dirty="0"/>
          </a:p>
          <a:p>
            <a:pPr lvl="0"/>
            <a:r>
              <a:rPr lang="cs-CZ" dirty="0" err="1"/>
              <a:t>Github</a:t>
            </a:r>
            <a:r>
              <a:rPr lang="cs-CZ" dirty="0"/>
              <a:t> jsem si vybral na správu verzí z důvodu jeho popularity a z důvodu částečných zkušeností z minulých let</a:t>
            </a:r>
          </a:p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2A5AF6-94FD-46F0-A849-88B0C846D651}" type="slidenum">
              <a:rPr lang="cs-CZ" smtClean="0"/>
              <a:t>3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4194312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2A5AF6-94FD-46F0-A849-88B0C846D651}" type="slidenum">
              <a:rPr lang="cs-CZ" smtClean="0"/>
              <a:t>4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7084604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4096A2-B3AE-2E7B-00EF-F5DF8C97E1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>
            <a:extLst>
              <a:ext uri="{FF2B5EF4-FFF2-40B4-BE49-F238E27FC236}">
                <a16:creationId xmlns:a16="http://schemas.microsoft.com/office/drawing/2014/main" id="{D8FB9AF2-BCAA-DBEC-3245-CA5BEBCBA5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>
            <a:extLst>
              <a:ext uri="{FF2B5EF4-FFF2-40B4-BE49-F238E27FC236}">
                <a16:creationId xmlns:a16="http://schemas.microsoft.com/office/drawing/2014/main" id="{089ED272-2C98-FE78-26E5-B5DA92AE53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3E5D5925-5BD5-A193-3F45-8D34060037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2A5AF6-94FD-46F0-A849-88B0C846D651}" type="slidenum">
              <a:rPr lang="cs-CZ" smtClean="0"/>
              <a:t>5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6252973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2C5013-EF1C-DDC8-B3A4-51CF3BCE79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>
            <a:extLst>
              <a:ext uri="{FF2B5EF4-FFF2-40B4-BE49-F238E27FC236}">
                <a16:creationId xmlns:a16="http://schemas.microsoft.com/office/drawing/2014/main" id="{57040027-2992-F364-8A40-DCEFFCB58A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>
            <a:extLst>
              <a:ext uri="{FF2B5EF4-FFF2-40B4-BE49-F238E27FC236}">
                <a16:creationId xmlns:a16="http://schemas.microsoft.com/office/drawing/2014/main" id="{23209301-41BC-7A9C-5434-793111F55D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05994FDC-6AB0-8E0B-6155-226819B83E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2A5AF6-94FD-46F0-A849-88B0C846D651}" type="slidenum">
              <a:rPr lang="cs-CZ" smtClean="0"/>
              <a:t>6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3885890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E490D8-072B-F4E6-C503-B635D983BF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>
            <a:extLst>
              <a:ext uri="{FF2B5EF4-FFF2-40B4-BE49-F238E27FC236}">
                <a16:creationId xmlns:a16="http://schemas.microsoft.com/office/drawing/2014/main" id="{BF53DDFC-3983-CFFF-4205-62D41E657C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>
            <a:extLst>
              <a:ext uri="{FF2B5EF4-FFF2-40B4-BE49-F238E27FC236}">
                <a16:creationId xmlns:a16="http://schemas.microsoft.com/office/drawing/2014/main" id="{4162E9B9-FA21-A1E3-ED60-618FD3EB2C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E6895857-AB3F-B151-1531-5E77C3D720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2A5AF6-94FD-46F0-A849-88B0C846D651}" type="slidenum">
              <a:rPr lang="cs-CZ" smtClean="0"/>
              <a:t>7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1562791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F553BA-475D-FBF9-F932-FBD3CD1D49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>
            <a:extLst>
              <a:ext uri="{FF2B5EF4-FFF2-40B4-BE49-F238E27FC236}">
                <a16:creationId xmlns:a16="http://schemas.microsoft.com/office/drawing/2014/main" id="{B32BBDB5-D268-8AE8-9E3E-00FE1068AA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>
            <a:extLst>
              <a:ext uri="{FF2B5EF4-FFF2-40B4-BE49-F238E27FC236}">
                <a16:creationId xmlns:a16="http://schemas.microsoft.com/office/drawing/2014/main" id="{3A5F7DE2-4D5F-379B-B011-9BABF0BD2F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67074E3B-3238-4A11-3230-5F2A746092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2A5AF6-94FD-46F0-A849-88B0C846D651}" type="slidenum">
              <a:rPr lang="cs-CZ" smtClean="0"/>
              <a:t>8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11019215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718C97-04BB-BEB8-F65F-BC7D6B47DA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>
            <a:extLst>
              <a:ext uri="{FF2B5EF4-FFF2-40B4-BE49-F238E27FC236}">
                <a16:creationId xmlns:a16="http://schemas.microsoft.com/office/drawing/2014/main" id="{EF86C0D9-6D1B-5B7E-082F-2307E24AD7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>
            <a:extLst>
              <a:ext uri="{FF2B5EF4-FFF2-40B4-BE49-F238E27FC236}">
                <a16:creationId xmlns:a16="http://schemas.microsoft.com/office/drawing/2014/main" id="{D6D3A0E4-EF91-91CF-C867-389A041157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20FC8D33-0DCE-8ADB-C8F1-DF24C717A5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2A5AF6-94FD-46F0-A849-88B0C846D651}" type="slidenum">
              <a:rPr lang="cs-CZ" smtClean="0"/>
              <a:t>9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7616102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448281-35D6-0843-25C4-5D5A969B96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>
            <a:extLst>
              <a:ext uri="{FF2B5EF4-FFF2-40B4-BE49-F238E27FC236}">
                <a16:creationId xmlns:a16="http://schemas.microsoft.com/office/drawing/2014/main" id="{26D299C9-2BA7-4EFF-0CEA-077BE5636E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>
            <a:extLst>
              <a:ext uri="{FF2B5EF4-FFF2-40B4-BE49-F238E27FC236}">
                <a16:creationId xmlns:a16="http://schemas.microsoft.com/office/drawing/2014/main" id="{10C6CF7F-DE04-53C5-19C1-B29EDCC68F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EA52F853-EEB3-DD26-B1FF-FCC61D30C5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2A5AF6-94FD-46F0-A849-88B0C846D651}" type="slidenum">
              <a:rPr lang="cs-CZ" smtClean="0"/>
              <a:t>10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70742444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500924-B093-F610-C87C-7EFA3127BF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>
            <a:extLst>
              <a:ext uri="{FF2B5EF4-FFF2-40B4-BE49-F238E27FC236}">
                <a16:creationId xmlns:a16="http://schemas.microsoft.com/office/drawing/2014/main" id="{13C5CB34-DE93-BB56-AD89-BA9CAA3B69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>
            <a:extLst>
              <a:ext uri="{FF2B5EF4-FFF2-40B4-BE49-F238E27FC236}">
                <a16:creationId xmlns:a16="http://schemas.microsoft.com/office/drawing/2014/main" id="{5196B5B7-9FAB-CD71-CC7C-D90A4E1C46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C8DF7CB0-F8EE-BD83-EEEB-86A36C62BB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2A5AF6-94FD-46F0-A849-88B0C846D651}" type="slidenum">
              <a:rPr lang="cs-CZ" smtClean="0"/>
              <a:t>11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9313657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5C9E0F-455A-40CC-7739-28B9D2CBA0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>
            <a:extLst>
              <a:ext uri="{FF2B5EF4-FFF2-40B4-BE49-F238E27FC236}">
                <a16:creationId xmlns:a16="http://schemas.microsoft.com/office/drawing/2014/main" id="{ABE2D85E-5D68-4E4A-B8CA-76C0F3A64D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>
            <a:extLst>
              <a:ext uri="{FF2B5EF4-FFF2-40B4-BE49-F238E27FC236}">
                <a16:creationId xmlns:a16="http://schemas.microsoft.com/office/drawing/2014/main" id="{2D063AE8-39CF-162D-2617-D50278DD2F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8B862FC6-AB34-5EFD-5489-945DB182DC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2A5AF6-94FD-46F0-A849-88B0C846D651}" type="slidenum">
              <a:rPr lang="cs-CZ" smtClean="0"/>
              <a:t>12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16385115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343568-6A6D-C6DC-3A8B-A14F3F99CA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>
            <a:extLst>
              <a:ext uri="{FF2B5EF4-FFF2-40B4-BE49-F238E27FC236}">
                <a16:creationId xmlns:a16="http://schemas.microsoft.com/office/drawing/2014/main" id="{082C9C16-05F0-74F7-0031-F7424385BC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>
            <a:extLst>
              <a:ext uri="{FF2B5EF4-FFF2-40B4-BE49-F238E27FC236}">
                <a16:creationId xmlns:a16="http://schemas.microsoft.com/office/drawing/2014/main" id="{20FAD65B-1692-03DD-AD89-20062C1D1B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1E13932F-9F9B-1FC6-0017-B0A6266D97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2A5AF6-94FD-46F0-A849-88B0C846D651}" type="slidenum">
              <a:rPr lang="cs-CZ" smtClean="0"/>
              <a:t>13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68480280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197C00-5F29-6BA6-8E53-7350BAFB5F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>
            <a:extLst>
              <a:ext uri="{FF2B5EF4-FFF2-40B4-BE49-F238E27FC236}">
                <a16:creationId xmlns:a16="http://schemas.microsoft.com/office/drawing/2014/main" id="{A49EF247-EA72-A555-8A69-F7BDF8A258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>
            <a:extLst>
              <a:ext uri="{FF2B5EF4-FFF2-40B4-BE49-F238E27FC236}">
                <a16:creationId xmlns:a16="http://schemas.microsoft.com/office/drawing/2014/main" id="{6A6EE16F-A57E-7B75-AB78-5FE18FAE1C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D1E1D5BF-F79E-45AF-0BDE-8E3E67E0AC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2A5AF6-94FD-46F0-A849-88B0C846D651}" type="slidenum">
              <a:rPr lang="cs-CZ" smtClean="0"/>
              <a:t>14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12198581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73A85D-2535-016A-23F6-3997A6C22A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>
            <a:extLst>
              <a:ext uri="{FF2B5EF4-FFF2-40B4-BE49-F238E27FC236}">
                <a16:creationId xmlns:a16="http://schemas.microsoft.com/office/drawing/2014/main" id="{47FA5755-7A7F-B747-998F-86BC30B3CF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>
            <a:extLst>
              <a:ext uri="{FF2B5EF4-FFF2-40B4-BE49-F238E27FC236}">
                <a16:creationId xmlns:a16="http://schemas.microsoft.com/office/drawing/2014/main" id="{F571A661-CDE8-306E-8CAB-9735F3ED43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614B7477-3B2C-DCAD-2F34-6D3A4FD943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2A5AF6-94FD-46F0-A849-88B0C846D651}" type="slidenum">
              <a:rPr lang="cs-CZ" smtClean="0"/>
              <a:t>15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28760911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836EC0-0A06-E8DB-503B-1EA0A4FAB2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>
            <a:extLst>
              <a:ext uri="{FF2B5EF4-FFF2-40B4-BE49-F238E27FC236}">
                <a16:creationId xmlns:a16="http://schemas.microsoft.com/office/drawing/2014/main" id="{084D02DE-3C26-C573-B306-6376701537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>
            <a:extLst>
              <a:ext uri="{FF2B5EF4-FFF2-40B4-BE49-F238E27FC236}">
                <a16:creationId xmlns:a16="http://schemas.microsoft.com/office/drawing/2014/main" id="{8D2BB9A2-15B0-505F-91A0-DDFD0F3C39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F56BE2FD-77D1-A98E-419B-722EBB0276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2A5AF6-94FD-46F0-A849-88B0C846D651}" type="slidenum">
              <a:rPr lang="cs-CZ" smtClean="0"/>
              <a:t>16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11742751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5F2AA6-EF0B-BA94-6871-7CB9D50915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>
            <a:extLst>
              <a:ext uri="{FF2B5EF4-FFF2-40B4-BE49-F238E27FC236}">
                <a16:creationId xmlns:a16="http://schemas.microsoft.com/office/drawing/2014/main" id="{DF752204-218C-9755-FAA5-A25DCBC648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>
            <a:extLst>
              <a:ext uri="{FF2B5EF4-FFF2-40B4-BE49-F238E27FC236}">
                <a16:creationId xmlns:a16="http://schemas.microsoft.com/office/drawing/2014/main" id="{A65DCD44-204E-3BA8-69AB-3EE8053702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DAD133CA-5BDC-434F-733F-EDD63679B2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2A5AF6-94FD-46F0-A849-88B0C846D651}" type="slidenum">
              <a:rPr lang="cs-CZ" smtClean="0"/>
              <a:t>17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19779884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8A7B75-FF31-7468-19AB-FE36C8435E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>
            <a:extLst>
              <a:ext uri="{FF2B5EF4-FFF2-40B4-BE49-F238E27FC236}">
                <a16:creationId xmlns:a16="http://schemas.microsoft.com/office/drawing/2014/main" id="{4CA60932-F0E2-9E83-84BF-B4DAD7FB67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>
            <a:extLst>
              <a:ext uri="{FF2B5EF4-FFF2-40B4-BE49-F238E27FC236}">
                <a16:creationId xmlns:a16="http://schemas.microsoft.com/office/drawing/2014/main" id="{678010DE-A086-E88F-7C90-7A860DD495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EB3ADE50-034B-96BF-056A-E2527BC8EA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2A5AF6-94FD-46F0-A849-88B0C846D651}" type="slidenum">
              <a:rPr lang="cs-CZ" smtClean="0"/>
              <a:t>18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82387027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D3D265-7A2B-BE7F-11AE-29DED4D446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>
            <a:extLst>
              <a:ext uri="{FF2B5EF4-FFF2-40B4-BE49-F238E27FC236}">
                <a16:creationId xmlns:a16="http://schemas.microsoft.com/office/drawing/2014/main" id="{195AE8A2-76F7-234C-CE0F-2C3C790248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>
            <a:extLst>
              <a:ext uri="{FF2B5EF4-FFF2-40B4-BE49-F238E27FC236}">
                <a16:creationId xmlns:a16="http://schemas.microsoft.com/office/drawing/2014/main" id="{B5658FD8-C767-11A5-0204-D18607A94A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48B611AB-B577-ACD3-BEE7-6DB8EE6C11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2A5AF6-94FD-46F0-A849-88B0C846D651}" type="slidenum">
              <a:rPr lang="cs-CZ" smtClean="0"/>
              <a:t>19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6051673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ED18D82-9A51-2F04-900A-D29B85C00C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2BEEED3A-42DE-9B1E-5EBB-6273A6CE5C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1C62F4B7-5862-AA24-932B-B3DE869729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2F6D1C-1332-48C6-B30E-44E7674B06B5}" type="datetimeFigureOut">
              <a:rPr lang="cs-CZ" smtClean="0"/>
              <a:t>13.05.2026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2F643B96-A66D-166D-4C6D-E8174B7D30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8A2179E5-857B-DE23-94E6-B2F86669E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301E1-FA5D-492A-97E5-C1C689BCD2DE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9081272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B9727D9-DB21-BB5A-4A5F-BF1800D770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F3030D0C-F6EF-7492-0896-A817A3FFF6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7BDE5067-520A-FB82-F773-BFE2DF6FDD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2F6D1C-1332-48C6-B30E-44E7674B06B5}" type="datetimeFigureOut">
              <a:rPr lang="cs-CZ" smtClean="0"/>
              <a:t>13.05.2026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33BB1A19-853C-DAB4-B3BF-BA04E144AD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88257B59-3B45-BA46-3070-E11D380A78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301E1-FA5D-492A-97E5-C1C689BCD2DE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709116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437F74E-460D-9547-C863-C416E5F347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4AC3F43B-5DA9-EC26-76CF-49D855F175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41EED22C-D0EC-4E5F-3FA5-6D89A5922E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2F6D1C-1332-48C6-B30E-44E7674B06B5}" type="datetimeFigureOut">
              <a:rPr lang="cs-CZ" smtClean="0"/>
              <a:t>13.05.2026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9F31E4F0-1B89-8A07-F636-45CAB7516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A32DB908-93CE-CC03-7483-D9738C27D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301E1-FA5D-492A-97E5-C1C689BCD2DE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0438856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CCAC671-2694-7FF8-2F0C-D717712DB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829824C3-FF64-FDA2-15C3-32E8E7FCD81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9725C12D-3F29-E708-F306-CA89CA472C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8BB3C21E-CA3F-C95A-55E2-4622BCE6EC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2F6D1C-1332-48C6-B30E-44E7674B06B5}" type="datetimeFigureOut">
              <a:rPr lang="cs-CZ" smtClean="0"/>
              <a:t>13.05.2026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E5F21277-EA07-C069-0318-C96E1EB4B0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3918B0A1-8483-D9CE-D13C-96A179996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301E1-FA5D-492A-97E5-C1C689BCD2DE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6222685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119285D-6F12-EAAA-1B14-6A6EF4CDEA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D28D99C8-E63B-F67A-7BFC-9BEBDE7458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8005C8F5-77D5-A8FF-B6F9-5E5E828F1A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D6B3ABBF-A8F0-80AB-5CF7-9F85FEA691C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B2EBC6EB-7E00-131E-CD69-0CCE5D06125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>
            <a:extLst>
              <a:ext uri="{FF2B5EF4-FFF2-40B4-BE49-F238E27FC236}">
                <a16:creationId xmlns:a16="http://schemas.microsoft.com/office/drawing/2014/main" id="{32E7849B-C547-E130-722E-20C611584C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2F6D1C-1332-48C6-B30E-44E7674B06B5}" type="datetimeFigureOut">
              <a:rPr lang="cs-CZ" smtClean="0"/>
              <a:t>13.05.2026</a:t>
            </a:fld>
            <a:endParaRPr lang="cs-CZ"/>
          </a:p>
        </p:txBody>
      </p:sp>
      <p:sp>
        <p:nvSpPr>
          <p:cNvPr id="8" name="Zástupný symbol pro zápatí 7">
            <a:extLst>
              <a:ext uri="{FF2B5EF4-FFF2-40B4-BE49-F238E27FC236}">
                <a16:creationId xmlns:a16="http://schemas.microsoft.com/office/drawing/2014/main" id="{5C008CBB-B654-185B-F3F0-BD7ACC800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A8D09C80-8290-5C9A-5D2C-96AA63989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301E1-FA5D-492A-97E5-C1C689BCD2DE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9366586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CD4EF9D-EACE-8E03-F0A1-C0AC13A854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940EB50D-4E12-AF33-A3F1-FECB0CC33F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2F6D1C-1332-48C6-B30E-44E7674B06B5}" type="datetimeFigureOut">
              <a:rPr lang="cs-CZ" smtClean="0"/>
              <a:t>13.05.2026</a:t>
            </a:fld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D86CBB14-2074-D992-1EFC-F74E99FDCB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8168EC3F-7BB0-4A24-1C5C-9FD331379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301E1-FA5D-492A-97E5-C1C689BCD2DE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5012791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>
            <a:extLst>
              <a:ext uri="{FF2B5EF4-FFF2-40B4-BE49-F238E27FC236}">
                <a16:creationId xmlns:a16="http://schemas.microsoft.com/office/drawing/2014/main" id="{99EB468E-D857-C1B7-DA81-7A10C5DA72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2F6D1C-1332-48C6-B30E-44E7674B06B5}" type="datetimeFigureOut">
              <a:rPr lang="cs-CZ" smtClean="0"/>
              <a:t>13.05.2026</a:t>
            </a:fld>
            <a:endParaRPr lang="cs-CZ"/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1FFCBBF3-4019-7664-0653-729000F3F6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B1F46241-8808-B508-ADDA-9CF63F300B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301E1-FA5D-492A-97E5-C1C689BCD2DE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9430960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A306E02-D490-33A7-4C41-B26BBE1BDE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D66AA8D-350B-E8FF-CA90-03BBBA2EA8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FB305575-BADF-0832-C30E-C09FB21A44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3E0A3D03-1FC9-E638-0836-8AB3DC322A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2F6D1C-1332-48C6-B30E-44E7674B06B5}" type="datetimeFigureOut">
              <a:rPr lang="cs-CZ" smtClean="0"/>
              <a:t>13.05.2026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6B003807-A444-2C6F-C72D-E76DD19D0F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9460E3CE-5B37-9F2E-07D7-535E74117C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301E1-FA5D-492A-97E5-C1C689BCD2DE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8173854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89F10C3-1FF6-24BD-ADB0-4F5DD6F5BF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obrázku 2">
            <a:extLst>
              <a:ext uri="{FF2B5EF4-FFF2-40B4-BE49-F238E27FC236}">
                <a16:creationId xmlns:a16="http://schemas.microsoft.com/office/drawing/2014/main" id="{8C80BB50-32E4-1DCD-B76B-51F39CE3090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F95C61F5-FF7F-6E13-70DD-534B13E162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F161936C-230D-2E4B-1580-8C61410EB2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2F6D1C-1332-48C6-B30E-44E7674B06B5}" type="datetimeFigureOut">
              <a:rPr lang="cs-CZ" smtClean="0"/>
              <a:t>13.05.2026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BBECB244-3EF5-B2BA-1028-B6EBE12DB0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8BA83527-E9D4-60F9-C803-58CC32325B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301E1-FA5D-492A-97E5-C1C689BCD2DE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683647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0DD4E8B-B3E9-9633-FE0F-C1104538C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CD4875B8-292B-F1E5-214E-ADD126961E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038EAE05-014C-BDC9-A5BA-6C2C9935F7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2F6D1C-1332-48C6-B30E-44E7674B06B5}" type="datetimeFigureOut">
              <a:rPr lang="cs-CZ" smtClean="0"/>
              <a:t>13.05.2026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9EC10840-186B-F4B0-6FF4-E088A1960B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20A8B281-D088-95C5-19F8-6446EB5619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301E1-FA5D-492A-97E5-C1C689BCD2DE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5824651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>
            <a:extLst>
              <a:ext uri="{FF2B5EF4-FFF2-40B4-BE49-F238E27FC236}">
                <a16:creationId xmlns:a16="http://schemas.microsoft.com/office/drawing/2014/main" id="{7130EBE1-624A-BFCB-2E26-F674BF90C77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FF1D2377-80D7-ADDE-FFC2-FF5163BB81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621F27C7-DD5A-DB9B-8C85-B2F0C3C8D9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2F6D1C-1332-48C6-B30E-44E7674B06B5}" type="datetimeFigureOut">
              <a:rPr lang="cs-CZ" smtClean="0"/>
              <a:t>13.05.2026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E574C8B2-7B45-8A0E-E995-931020AAA0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0B921C52-E70C-14FA-4619-3F3E5C6E8B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301E1-FA5D-492A-97E5-C1C689BCD2DE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5431617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EAA8BA55-0CE1-6369-D8F3-2393DB6C4B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D7FA5CCF-E3B6-CD77-148A-61D3E51A28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2262368A-F3AC-3122-DCFB-F5EE806684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2F6D1C-1332-48C6-B30E-44E7674B06B5}" type="datetimeFigureOut">
              <a:rPr lang="cs-CZ" smtClean="0"/>
              <a:t>13.05.2026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3C258CD4-36D5-C973-7D2A-3E901F7822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0025F4DC-7549-08FE-F327-79ECFD4452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8301E1-FA5D-492A-97E5-C1C689BCD2DE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1736004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sv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102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E3727B7C-F3A1-C9B7-0981-BA4182FF3B3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/>
            <a:r>
              <a:rPr lang="cs-CZ" sz="3600" b="1" dirty="0">
                <a:solidFill>
                  <a:srgbClr val="000000"/>
                </a:solidFill>
                <a:latin typeface="Calibri"/>
              </a:rPr>
              <a:t>2D akční hra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95AD8D0E-EA51-3003-2EA9-8829775D68A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/>
            <a:r>
              <a:rPr lang="cs-CZ" sz="2000" dirty="0">
                <a:solidFill>
                  <a:srgbClr val="000000"/>
                </a:solidFill>
                <a:latin typeface="Calibri"/>
              </a:rPr>
              <a:t>Autor práce: Stanislav Vacula</a:t>
            </a:r>
          </a:p>
          <a:p>
            <a:pPr algn="l"/>
            <a:r>
              <a:rPr lang="cs-CZ" sz="2000" dirty="0">
                <a:solidFill>
                  <a:srgbClr val="000000"/>
                </a:solidFill>
                <a:latin typeface="Calibri"/>
              </a:rPr>
              <a:t>Vedoucí práce: Mgr. Karel Jindra</a:t>
            </a:r>
          </a:p>
          <a:p>
            <a:pPr algn="l"/>
            <a:r>
              <a:rPr lang="cs-CZ" sz="2000" dirty="0">
                <a:solidFill>
                  <a:srgbClr val="000000"/>
                </a:solidFill>
                <a:latin typeface="Calibri"/>
              </a:rPr>
              <a:t>Oponent práce: Ing. Martin Šimůnek</a:t>
            </a:r>
          </a:p>
        </p:txBody>
      </p:sp>
      <p:pic>
        <p:nvPicPr>
          <p:cNvPr id="4" name="Picture 2" descr="OA, VOŠ a Jazyková škola s právem státní jazykové zkoušky Uherské Hradiště  , Uherské Hradiště - Živéfirmy.cz">
            <a:extLst>
              <a:ext uri="{FF2B5EF4-FFF2-40B4-BE49-F238E27FC236}">
                <a16:creationId xmlns:a16="http://schemas.microsoft.com/office/drawing/2014/main" id="{966C445D-C5E6-378A-7744-52306A47C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93828" y="5257800"/>
            <a:ext cx="1328057" cy="13280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570289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76C9A22E-B2D6-6020-8148-F2629CBC6B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cs-CZ" sz="3600" b="1" dirty="0">
                <a:solidFill>
                  <a:srgbClr val="000000"/>
                </a:solidFill>
                <a:latin typeface="Calibri"/>
              </a:rPr>
              <a:t>Představení projektu</a:t>
            </a:r>
          </a:p>
        </p:txBody>
      </p:sp>
      <p:pic>
        <p:nvPicPr>
          <p:cNvPr id="9" name="Grafický objekt 8" descr="Přehrát se souvislou výplní">
            <a:extLst>
              <a:ext uri="{FF2B5EF4-FFF2-40B4-BE49-F238E27FC236}">
                <a16:creationId xmlns:a16="http://schemas.microsoft.com/office/drawing/2014/main" id="{0F2A148F-0F1D-002E-E47C-D4DC5A9ACA1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239500" y="113506"/>
            <a:ext cx="914400" cy="914400"/>
          </a:xfrm>
          <a:prstGeom prst="rect">
            <a:avLst/>
          </a:prstGeom>
        </p:spPr>
      </p:pic>
      <p:sp>
        <p:nvSpPr>
          <p:cNvPr id="10" name="Zástupný obsah 9">
            <a:extLst>
              <a:ext uri="{FF2B5EF4-FFF2-40B4-BE49-F238E27FC236}">
                <a16:creationId xmlns:a16="http://schemas.microsoft.com/office/drawing/2014/main" id="{2707A425-5220-C613-C2CC-B0DCB31ADE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1743" y="1690688"/>
            <a:ext cx="6520543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cs-CZ" sz="2400" dirty="0" err="1"/>
              <a:t>Lone</a:t>
            </a:r>
            <a:r>
              <a:rPr lang="cs-CZ" sz="2400" dirty="0"/>
              <a:t> </a:t>
            </a:r>
            <a:r>
              <a:rPr lang="cs-CZ" sz="2400" dirty="0" err="1"/>
              <a:t>Survivor</a:t>
            </a:r>
            <a:r>
              <a:rPr lang="cs-CZ" sz="2400" dirty="0"/>
              <a:t> je 2D akční </a:t>
            </a:r>
            <a:r>
              <a:rPr lang="cs-CZ" sz="2400" dirty="0" err="1"/>
              <a:t>plošinovka</a:t>
            </a:r>
            <a:r>
              <a:rPr lang="cs-CZ" sz="2400" dirty="0"/>
              <a:t> zasazená do prostředí války ve Vietnamu. Hráč se ujímá role vojáka, který čelí nejen nepřátelům, ale i vlastním traumatům.</a:t>
            </a:r>
          </a:p>
          <a:p>
            <a:endParaRPr lang="cs-CZ" sz="2400" dirty="0"/>
          </a:p>
          <a:p>
            <a:pPr>
              <a:buFont typeface="Wingdings" panose="05000000000000000000" pitchFamily="2" charset="2"/>
              <a:buChar char="Ø"/>
            </a:pPr>
            <a:r>
              <a:rPr lang="cs-CZ" sz="2400" dirty="0"/>
              <a:t>  </a:t>
            </a:r>
            <a:r>
              <a:rPr lang="cs-CZ" sz="2400" b="1" dirty="0"/>
              <a:t>Žánr: </a:t>
            </a:r>
            <a:r>
              <a:rPr lang="cs-CZ" sz="2400" dirty="0"/>
              <a:t>Akční </a:t>
            </a:r>
            <a:r>
              <a:rPr lang="cs-CZ" sz="2400" dirty="0" err="1"/>
              <a:t>plošinovka</a:t>
            </a:r>
            <a:r>
              <a:rPr lang="cs-CZ" sz="2400" dirty="0"/>
              <a:t> (</a:t>
            </a:r>
            <a:r>
              <a:rPr lang="cs-CZ" sz="2400" dirty="0" err="1"/>
              <a:t>Platformer</a:t>
            </a:r>
            <a:r>
              <a:rPr lang="cs-CZ" sz="2400" dirty="0"/>
              <a:t>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cs-CZ" sz="2400" dirty="0"/>
              <a:t>  </a:t>
            </a:r>
            <a:r>
              <a:rPr lang="cs-CZ" sz="2400" b="1" dirty="0"/>
              <a:t>Technologie: </a:t>
            </a:r>
            <a:r>
              <a:rPr lang="cs-CZ" sz="2400" dirty="0"/>
              <a:t>Godot </a:t>
            </a:r>
            <a:r>
              <a:rPr lang="cs-CZ" sz="2400" dirty="0" err="1"/>
              <a:t>Engine</a:t>
            </a:r>
            <a:r>
              <a:rPr lang="cs-CZ" sz="2400" dirty="0"/>
              <a:t> 4.x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cs-CZ" sz="2400" dirty="0"/>
              <a:t>  </a:t>
            </a:r>
            <a:r>
              <a:rPr lang="cs-CZ" sz="2400" b="1" dirty="0"/>
              <a:t>Styl: </a:t>
            </a:r>
            <a:r>
              <a:rPr lang="cs-CZ" sz="2400" dirty="0"/>
              <a:t>Pixel Art</a:t>
            </a:r>
          </a:p>
          <a:p>
            <a:endParaRPr lang="cs-CZ" sz="2400" dirty="0"/>
          </a:p>
        </p:txBody>
      </p:sp>
    </p:spTree>
    <p:extLst>
      <p:ext uri="{BB962C8B-B14F-4D97-AF65-F5344CB8AC3E}">
        <p14:creationId xmlns:p14="http://schemas.microsoft.com/office/powerpoint/2010/main" val="2541333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Rectangle 103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4B3070AA-73DB-6985-D3EC-62489E23B1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cs-CZ" sz="3600" b="1" dirty="0">
                <a:solidFill>
                  <a:srgbClr val="000000"/>
                </a:solidFill>
                <a:latin typeface="Calibri"/>
              </a:rPr>
              <a:t>Použité nástroje</a:t>
            </a:r>
          </a:p>
        </p:txBody>
      </p:sp>
      <p:pic>
        <p:nvPicPr>
          <p:cNvPr id="1030" name="Picture 6" descr="GitHub Logo, symbol, meaning, history, PNG, brand">
            <a:extLst>
              <a:ext uri="{FF2B5EF4-FFF2-40B4-BE49-F238E27FC236}">
                <a16:creationId xmlns:a16="http://schemas.microsoft.com/office/drawing/2014/main" id="{E214E85A-2DE3-C846-E901-6EB80C7C07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0300" y="1981358"/>
            <a:ext cx="3771900" cy="20528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Press Kit – Godot Engine">
            <a:extLst>
              <a:ext uri="{FF2B5EF4-FFF2-40B4-BE49-F238E27FC236}">
                <a16:creationId xmlns:a16="http://schemas.microsoft.com/office/drawing/2014/main" id="{E4B1798A-4AA1-E595-7F96-FB8492B8FF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402" y="1894114"/>
            <a:ext cx="2046791" cy="23404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Pixelorama v1.1 is out! - Pixelorama by Orama Interactive, OverloadedOrama">
            <a:extLst>
              <a:ext uri="{FF2B5EF4-FFF2-40B4-BE49-F238E27FC236}">
                <a16:creationId xmlns:a16="http://schemas.microsoft.com/office/drawing/2014/main" id="{2CF6732E-79A1-DBB3-1A68-6F11DDCBCD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75025" y="2806164"/>
            <a:ext cx="3398808" cy="7080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Grafický objekt 3" descr="Těžební nástroje se souvislou výplní">
            <a:extLst>
              <a:ext uri="{FF2B5EF4-FFF2-40B4-BE49-F238E27FC236}">
                <a16:creationId xmlns:a16="http://schemas.microsoft.com/office/drawing/2014/main" id="{D4BCAAD7-FDD2-98A1-FB58-2DDA30F5DD0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858500" y="237227"/>
            <a:ext cx="914400" cy="9144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B0999CF-5E29-6E76-8D53-8B4A3AC629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59319" y="2046838"/>
            <a:ext cx="2002828" cy="1954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ovéPole 4">
            <a:extLst>
              <a:ext uri="{FF2B5EF4-FFF2-40B4-BE49-F238E27FC236}">
                <a16:creationId xmlns:a16="http://schemas.microsoft.com/office/drawing/2014/main" id="{60D9C04E-174C-29AD-8F33-95E2C89C8873}"/>
              </a:ext>
            </a:extLst>
          </p:cNvPr>
          <p:cNvSpPr txBox="1"/>
          <p:nvPr/>
        </p:nvSpPr>
        <p:spPr>
          <a:xfrm>
            <a:off x="511629" y="4539343"/>
            <a:ext cx="247105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2000" dirty="0"/>
              <a:t>Vývoj herní logiky v </a:t>
            </a:r>
            <a:r>
              <a:rPr lang="cs-CZ" sz="2000" dirty="0" err="1"/>
              <a:t>GDScriptu</a:t>
            </a:r>
            <a:r>
              <a:rPr lang="cs-CZ" sz="2000" dirty="0"/>
              <a:t>, práce se scénami a signály.</a:t>
            </a:r>
          </a:p>
        </p:txBody>
      </p:sp>
      <p:sp>
        <p:nvSpPr>
          <p:cNvPr id="6" name="TextovéPole 5">
            <a:extLst>
              <a:ext uri="{FF2B5EF4-FFF2-40B4-BE49-F238E27FC236}">
                <a16:creationId xmlns:a16="http://schemas.microsoft.com/office/drawing/2014/main" id="{5736EC0E-F660-4DDA-B267-F0D48FC6C976}"/>
              </a:ext>
            </a:extLst>
          </p:cNvPr>
          <p:cNvSpPr txBox="1"/>
          <p:nvPr/>
        </p:nvSpPr>
        <p:spPr>
          <a:xfrm>
            <a:off x="3124200" y="4572001"/>
            <a:ext cx="28508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dirty="0"/>
              <a:t>Verzování projektu a správa zdrojových kódů.</a:t>
            </a:r>
          </a:p>
        </p:txBody>
      </p:sp>
      <p:sp>
        <p:nvSpPr>
          <p:cNvPr id="7" name="TextovéPole 6">
            <a:extLst>
              <a:ext uri="{FF2B5EF4-FFF2-40B4-BE49-F238E27FC236}">
                <a16:creationId xmlns:a16="http://schemas.microsoft.com/office/drawing/2014/main" id="{DD4B3269-2938-D87B-BF11-B51F17EC8D54}"/>
              </a:ext>
            </a:extLst>
          </p:cNvPr>
          <p:cNvSpPr txBox="1"/>
          <p:nvPr/>
        </p:nvSpPr>
        <p:spPr>
          <a:xfrm>
            <a:off x="6248400" y="4571999"/>
            <a:ext cx="31254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dirty="0"/>
              <a:t>Tvorba grafiky </a:t>
            </a:r>
          </a:p>
          <a:p>
            <a:r>
              <a:rPr lang="cs-CZ" dirty="0"/>
              <a:t>(postavičky + animace)</a:t>
            </a:r>
          </a:p>
        </p:txBody>
      </p:sp>
      <p:sp>
        <p:nvSpPr>
          <p:cNvPr id="8" name="TextovéPole 7">
            <a:extLst>
              <a:ext uri="{FF2B5EF4-FFF2-40B4-BE49-F238E27FC236}">
                <a16:creationId xmlns:a16="http://schemas.microsoft.com/office/drawing/2014/main" id="{95486541-5098-E730-5838-7D89F498196C}"/>
              </a:ext>
            </a:extLst>
          </p:cNvPr>
          <p:cNvSpPr txBox="1"/>
          <p:nvPr/>
        </p:nvSpPr>
        <p:spPr>
          <a:xfrm>
            <a:off x="9759319" y="4582881"/>
            <a:ext cx="200282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dirty="0"/>
              <a:t>Tvorba grafiky (pozadí, páčky, most, ..)</a:t>
            </a:r>
          </a:p>
        </p:txBody>
      </p:sp>
    </p:spTree>
    <p:extLst>
      <p:ext uri="{BB962C8B-B14F-4D97-AF65-F5344CB8AC3E}">
        <p14:creationId xmlns:p14="http://schemas.microsoft.com/office/powerpoint/2010/main" val="40211602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5"/>
            <a:ext cx="12192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dirty="0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D8569D4D-1AA0-65B1-1B7B-CC1572F77F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cs-CZ" sz="3600" b="1" dirty="0">
                <a:solidFill>
                  <a:srgbClr val="000000"/>
                </a:solidFill>
                <a:latin typeface="Calibri"/>
              </a:rPr>
              <a:t>Grafika hry</a:t>
            </a:r>
          </a:p>
        </p:txBody>
      </p:sp>
      <p:pic>
        <p:nvPicPr>
          <p:cNvPr id="6" name="Zástupný obsah 5" descr="Dobrý nápad se souvislou výplní">
            <a:extLst>
              <a:ext uri="{FF2B5EF4-FFF2-40B4-BE49-F238E27FC236}">
                <a16:creationId xmlns:a16="http://schemas.microsoft.com/office/drawing/2014/main" id="{235B8C68-E1E8-E6CD-87BC-4705E1B292D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38936" y="188418"/>
            <a:ext cx="914400" cy="914400"/>
          </a:xfrm>
        </p:spPr>
      </p:pic>
      <p:sp>
        <p:nvSpPr>
          <p:cNvPr id="3" name="TextovéPole 2">
            <a:extLst>
              <a:ext uri="{FF2B5EF4-FFF2-40B4-BE49-F238E27FC236}">
                <a16:creationId xmlns:a16="http://schemas.microsoft.com/office/drawing/2014/main" id="{AE112722-F4D9-07CB-BF48-FF7BF15A1FF9}"/>
              </a:ext>
            </a:extLst>
          </p:cNvPr>
          <p:cNvSpPr txBox="1"/>
          <p:nvPr/>
        </p:nvSpPr>
        <p:spPr>
          <a:xfrm>
            <a:off x="936171" y="2253343"/>
            <a:ext cx="6335486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haroni" panose="02010803020104030203" pitchFamily="2" charset="-79"/>
              <a:buChar char="›"/>
            </a:pPr>
            <a:r>
              <a:rPr lang="cs-CZ" sz="2400" b="1" dirty="0"/>
              <a:t>Vlastní tvorba:</a:t>
            </a:r>
            <a:r>
              <a:rPr lang="cs-CZ" sz="2400" dirty="0"/>
              <a:t> Hlavní postava, animace, interaktivní mosty a logické prvky.</a:t>
            </a:r>
          </a:p>
          <a:p>
            <a:pPr marL="342900" indent="-342900">
              <a:buFont typeface="Aharoni" panose="02010803020104030203" pitchFamily="2" charset="-79"/>
              <a:buChar char="›"/>
            </a:pPr>
            <a:r>
              <a:rPr lang="cs-CZ" sz="2400" b="1" dirty="0"/>
              <a:t>AI: </a:t>
            </a:r>
            <a:r>
              <a:rPr lang="cs-CZ" sz="2400" dirty="0"/>
              <a:t>Použito pro generování pozadí džungle.</a:t>
            </a:r>
          </a:p>
          <a:p>
            <a:pPr marL="342900" indent="-342900">
              <a:buFont typeface="Aharoni" panose="02010803020104030203" pitchFamily="2" charset="-79"/>
              <a:buChar char="›"/>
            </a:pPr>
            <a:r>
              <a:rPr lang="cs-CZ" sz="2400" b="1" dirty="0" err="1"/>
              <a:t>Asset</a:t>
            </a:r>
            <a:r>
              <a:rPr lang="cs-CZ" sz="2400" b="1" dirty="0"/>
              <a:t> </a:t>
            </a:r>
            <a:r>
              <a:rPr lang="cs-CZ" sz="2400" b="1" dirty="0" err="1"/>
              <a:t>Store</a:t>
            </a:r>
            <a:r>
              <a:rPr lang="cs-CZ" sz="2400" b="1" dirty="0"/>
              <a:t>:</a:t>
            </a:r>
            <a:r>
              <a:rPr lang="cs-CZ" sz="2400" dirty="0"/>
              <a:t> Dlaždice (</a:t>
            </a:r>
            <a:r>
              <a:rPr lang="cs-CZ" sz="2400" dirty="0" err="1"/>
              <a:t>TileSet</a:t>
            </a:r>
            <a:r>
              <a:rPr lang="cs-CZ" sz="2400" dirty="0"/>
              <a:t>) pro základní terén a přírodu.</a:t>
            </a:r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0572193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0D8418-3A06-DCCD-6BF2-ACAED8A781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62F9F1A-D2D3-ABEE-7090-1B56AB244E0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5"/>
            <a:ext cx="12192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dirty="0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BFAB2AC2-7A05-07B3-FC07-3112CF89D5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cs-CZ" sz="3600" b="1" dirty="0">
                <a:solidFill>
                  <a:srgbClr val="000000"/>
                </a:solidFill>
                <a:latin typeface="Calibri"/>
              </a:rPr>
              <a:t>Ukázka vytvořené grafiky</a:t>
            </a:r>
          </a:p>
        </p:txBody>
      </p:sp>
      <p:pic>
        <p:nvPicPr>
          <p:cNvPr id="6" name="Zástupný obsah 5" descr="Dobrý nápad se souvislou výplní">
            <a:extLst>
              <a:ext uri="{FF2B5EF4-FFF2-40B4-BE49-F238E27FC236}">
                <a16:creationId xmlns:a16="http://schemas.microsoft.com/office/drawing/2014/main" id="{D480E2B2-D819-C1D4-FB08-2BE55D35F4D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38936" y="188418"/>
            <a:ext cx="914400" cy="914400"/>
          </a:xfrm>
        </p:spPr>
      </p:pic>
      <p:pic>
        <p:nvPicPr>
          <p:cNvPr id="7" name="Obrázek 6">
            <a:extLst>
              <a:ext uri="{FF2B5EF4-FFF2-40B4-BE49-F238E27FC236}">
                <a16:creationId xmlns:a16="http://schemas.microsoft.com/office/drawing/2014/main" id="{6453701E-D36E-E8CE-D120-3D67EC2F4B0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443" y="1690688"/>
            <a:ext cx="1400613" cy="1400613"/>
          </a:xfrm>
          <a:prstGeom prst="rect">
            <a:avLst/>
          </a:prstGeom>
        </p:spPr>
      </p:pic>
      <p:pic>
        <p:nvPicPr>
          <p:cNvPr id="9" name="Obrázek 8">
            <a:extLst>
              <a:ext uri="{FF2B5EF4-FFF2-40B4-BE49-F238E27FC236}">
                <a16:creationId xmlns:a16="http://schemas.microsoft.com/office/drawing/2014/main" id="{19F7BD83-30E0-7ACA-1FCC-86D05D1FF00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1192" y="1690688"/>
            <a:ext cx="1400613" cy="1400613"/>
          </a:xfrm>
          <a:prstGeom prst="rect">
            <a:avLst/>
          </a:prstGeom>
        </p:spPr>
      </p:pic>
      <p:pic>
        <p:nvPicPr>
          <p:cNvPr id="13" name="Obrázek 12">
            <a:extLst>
              <a:ext uri="{FF2B5EF4-FFF2-40B4-BE49-F238E27FC236}">
                <a16:creationId xmlns:a16="http://schemas.microsoft.com/office/drawing/2014/main" id="{F7123D40-F69C-B60F-2E83-1BE37156FA3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0437" y="1765738"/>
            <a:ext cx="1325563" cy="1325563"/>
          </a:xfrm>
          <a:prstGeom prst="rect">
            <a:avLst/>
          </a:prstGeom>
        </p:spPr>
      </p:pic>
      <p:pic>
        <p:nvPicPr>
          <p:cNvPr id="15" name="Obrázek 14">
            <a:extLst>
              <a:ext uri="{FF2B5EF4-FFF2-40B4-BE49-F238E27FC236}">
                <a16:creationId xmlns:a16="http://schemas.microsoft.com/office/drawing/2014/main" id="{DB641025-FD84-8474-BD7B-7E551E9F218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1504" y="1954106"/>
            <a:ext cx="8572504" cy="914400"/>
          </a:xfrm>
          <a:prstGeom prst="rect">
            <a:avLst/>
          </a:prstGeom>
        </p:spPr>
      </p:pic>
      <p:pic>
        <p:nvPicPr>
          <p:cNvPr id="27" name="Obrázek 26">
            <a:extLst>
              <a:ext uri="{FF2B5EF4-FFF2-40B4-BE49-F238E27FC236}">
                <a16:creationId xmlns:a16="http://schemas.microsoft.com/office/drawing/2014/main" id="{EF19649C-DC62-CE36-275A-0429ACED860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27569" y="4012118"/>
            <a:ext cx="4857566" cy="992815"/>
          </a:xfrm>
          <a:prstGeom prst="rect">
            <a:avLst/>
          </a:prstGeom>
        </p:spPr>
      </p:pic>
      <p:pic>
        <p:nvPicPr>
          <p:cNvPr id="29" name="Obrázek 28">
            <a:extLst>
              <a:ext uri="{FF2B5EF4-FFF2-40B4-BE49-F238E27FC236}">
                <a16:creationId xmlns:a16="http://schemas.microsoft.com/office/drawing/2014/main" id="{951947D1-8267-2BEE-AF4A-01FE2F75F02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72937" y="3911422"/>
            <a:ext cx="3591494" cy="1194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02595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DDD0B9-A57C-EA42-4477-A7CE95B168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A0C463C-16B5-978C-C662-2541039F3CE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5"/>
            <a:ext cx="12192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dirty="0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CEEC85E6-0AAC-E7FA-529B-0CEDCC4C62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5315" y="2654848"/>
            <a:ext cx="4702628" cy="1325563"/>
          </a:xfrm>
        </p:spPr>
        <p:txBody>
          <a:bodyPr>
            <a:normAutofit/>
          </a:bodyPr>
          <a:lstStyle/>
          <a:p>
            <a:pPr algn="l"/>
            <a:r>
              <a:rPr lang="cs-CZ" sz="7200" b="1" dirty="0">
                <a:solidFill>
                  <a:srgbClr val="000000"/>
                </a:solidFill>
                <a:latin typeface="Calibri"/>
              </a:rPr>
              <a:t>Ukázka hry</a:t>
            </a:r>
          </a:p>
        </p:txBody>
      </p:sp>
    </p:spTree>
    <p:extLst>
      <p:ext uri="{BB962C8B-B14F-4D97-AF65-F5344CB8AC3E}">
        <p14:creationId xmlns:p14="http://schemas.microsoft.com/office/powerpoint/2010/main" val="11603231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9B8325-D3B4-0FE3-54EF-A7DC6F3D40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37982B8-BD53-0823-9208-64A733BDF1B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5"/>
            <a:ext cx="12192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dirty="0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DCFC7776-3AC5-7347-A919-BA1CEEC3EB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cs-CZ" sz="3600" b="1" dirty="0">
                <a:solidFill>
                  <a:srgbClr val="000000"/>
                </a:solidFill>
                <a:latin typeface="Calibri"/>
              </a:rPr>
              <a:t>Splněné úkoly</a:t>
            </a:r>
          </a:p>
        </p:txBody>
      </p:sp>
      <p:pic>
        <p:nvPicPr>
          <p:cNvPr id="6" name="Zástupný obsah 5" descr="Dobrý nápad se souvislou výplní">
            <a:extLst>
              <a:ext uri="{FF2B5EF4-FFF2-40B4-BE49-F238E27FC236}">
                <a16:creationId xmlns:a16="http://schemas.microsoft.com/office/drawing/2014/main" id="{972801D4-ED42-DE0D-EE2E-1ED60AB9F9C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38936" y="188418"/>
            <a:ext cx="914400" cy="914400"/>
          </a:xfrm>
        </p:spPr>
      </p:pic>
      <p:sp>
        <p:nvSpPr>
          <p:cNvPr id="3" name="TextovéPole 2">
            <a:extLst>
              <a:ext uri="{FF2B5EF4-FFF2-40B4-BE49-F238E27FC236}">
                <a16:creationId xmlns:a16="http://schemas.microsoft.com/office/drawing/2014/main" id="{5E612ED2-7F83-45A8-1028-1A7455FEE103}"/>
              </a:ext>
            </a:extLst>
          </p:cNvPr>
          <p:cNvSpPr txBox="1"/>
          <p:nvPr/>
        </p:nvSpPr>
        <p:spPr>
          <a:xfrm>
            <a:off x="936171" y="1828798"/>
            <a:ext cx="6335486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haroni" panose="02010803020104030203" pitchFamily="2" charset="-79"/>
              <a:buChar char="›"/>
            </a:pPr>
            <a:r>
              <a:rPr lang="cs-CZ" sz="2800" dirty="0"/>
              <a:t>2D akční hra v </a:t>
            </a:r>
            <a:r>
              <a:rPr lang="cs-CZ" sz="2800" dirty="0" err="1"/>
              <a:t>enginu</a:t>
            </a:r>
            <a:r>
              <a:rPr lang="cs-CZ" sz="2800" dirty="0"/>
              <a:t> Godot</a:t>
            </a:r>
          </a:p>
          <a:p>
            <a:pPr marL="342900" indent="-342900">
              <a:buFont typeface="Aharoni" panose="02010803020104030203" pitchFamily="2" charset="-79"/>
              <a:buChar char="›"/>
            </a:pPr>
            <a:r>
              <a:rPr lang="cs-CZ" sz="2800" dirty="0"/>
              <a:t>4 levely včetně </a:t>
            </a:r>
            <a:r>
              <a:rPr lang="cs-CZ" sz="2800" dirty="0" err="1"/>
              <a:t>tutorialu</a:t>
            </a:r>
            <a:endParaRPr lang="cs-CZ" sz="2800" dirty="0"/>
          </a:p>
          <a:p>
            <a:pPr marL="342900" indent="-342900">
              <a:buFont typeface="Aharoni" panose="02010803020104030203" pitchFamily="2" charset="-79"/>
              <a:buChar char="›"/>
            </a:pPr>
            <a:r>
              <a:rPr lang="cs-CZ" sz="2800" dirty="0"/>
              <a:t>Grafické zpracování stylem pixel art</a:t>
            </a:r>
          </a:p>
          <a:p>
            <a:pPr marL="342900" indent="-342900">
              <a:buFont typeface="Aharoni" panose="02010803020104030203" pitchFamily="2" charset="-79"/>
              <a:buChar char="›"/>
            </a:pPr>
            <a:r>
              <a:rPr lang="cs-CZ" sz="2800" dirty="0"/>
              <a:t>Hra obsahuje příběh</a:t>
            </a:r>
          </a:p>
          <a:p>
            <a:pPr marL="342900" indent="-342900">
              <a:buFont typeface="Aharoni" panose="02010803020104030203" pitchFamily="2" charset="-79"/>
              <a:buChar char="›"/>
            </a:pPr>
            <a:r>
              <a:rPr lang="cs-CZ" sz="2800" dirty="0"/>
              <a:t>Funkční systém deníků</a:t>
            </a:r>
          </a:p>
          <a:p>
            <a:pPr marL="342900" indent="-342900">
              <a:buFont typeface="Aharoni" panose="02010803020104030203" pitchFamily="2" charset="-79"/>
              <a:buChar char="›"/>
            </a:pPr>
            <a:r>
              <a:rPr lang="cs-CZ" sz="2800" dirty="0"/>
              <a:t>3 testeři</a:t>
            </a:r>
          </a:p>
          <a:p>
            <a:pPr marL="342900" indent="-342900">
              <a:buFont typeface="Aharoni" panose="02010803020104030203" pitchFamily="2" charset="-79"/>
              <a:buChar char="›"/>
            </a:pPr>
            <a:r>
              <a:rPr lang="cs-CZ" sz="2800" dirty="0"/>
              <a:t>Projekt řádně veden na </a:t>
            </a:r>
            <a:r>
              <a:rPr lang="cs-CZ" sz="2800" dirty="0" err="1"/>
              <a:t>githubu</a:t>
            </a:r>
            <a:endParaRPr lang="cs-CZ" sz="2800" dirty="0"/>
          </a:p>
          <a:p>
            <a:pPr marL="342900" indent="-342900">
              <a:buFont typeface="Aharoni" panose="02010803020104030203" pitchFamily="2" charset="-79"/>
              <a:buChar char="›"/>
            </a:pPr>
            <a:r>
              <a:rPr lang="cs-CZ" sz="2800" dirty="0"/>
              <a:t>Hra obsahuje zvukové efekty</a:t>
            </a:r>
          </a:p>
          <a:p>
            <a:pPr marL="342900" indent="-342900">
              <a:buFont typeface="Aharoni" panose="02010803020104030203" pitchFamily="2" charset="-79"/>
              <a:buChar char="›"/>
            </a:pPr>
            <a:r>
              <a:rPr lang="cs-CZ" sz="2800" dirty="0"/>
              <a:t>Hra je plně hratelná na Windows</a:t>
            </a:r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7615669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436DEF-52F2-E31B-EFED-98778A67D4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27B14B4-F270-FA53-71AF-E7F842D93B5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5"/>
            <a:ext cx="12192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dirty="0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EF5ADD23-D7E0-BC9C-D628-6DCE820098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cs-CZ" sz="3600" b="1" dirty="0">
                <a:solidFill>
                  <a:srgbClr val="000000"/>
                </a:solidFill>
                <a:latin typeface="Calibri"/>
              </a:rPr>
              <a:t>Možnosti rozšíření</a:t>
            </a:r>
          </a:p>
        </p:txBody>
      </p:sp>
      <p:pic>
        <p:nvPicPr>
          <p:cNvPr id="6" name="Zástupný obsah 5" descr="Dobrý nápad se souvislou výplní">
            <a:extLst>
              <a:ext uri="{FF2B5EF4-FFF2-40B4-BE49-F238E27FC236}">
                <a16:creationId xmlns:a16="http://schemas.microsoft.com/office/drawing/2014/main" id="{067794B4-B532-7BA3-66BC-CC68BA889CC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38936" y="188418"/>
            <a:ext cx="914400" cy="914400"/>
          </a:xfrm>
        </p:spPr>
      </p:pic>
      <p:sp>
        <p:nvSpPr>
          <p:cNvPr id="3" name="TextovéPole 2">
            <a:extLst>
              <a:ext uri="{FF2B5EF4-FFF2-40B4-BE49-F238E27FC236}">
                <a16:creationId xmlns:a16="http://schemas.microsoft.com/office/drawing/2014/main" id="{8A9BD8DD-0D4C-CBBD-19CF-13D3F02234F5}"/>
              </a:ext>
            </a:extLst>
          </p:cNvPr>
          <p:cNvSpPr txBox="1"/>
          <p:nvPr/>
        </p:nvSpPr>
        <p:spPr>
          <a:xfrm>
            <a:off x="936170" y="1828798"/>
            <a:ext cx="6444343" cy="381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haroni" panose="02010803020104030203" pitchFamily="2" charset="-79"/>
              <a:buChar char="›"/>
            </a:pPr>
            <a:r>
              <a:rPr lang="cs-CZ" sz="2800" dirty="0"/>
              <a:t>Přidání více druhů nepřátel</a:t>
            </a:r>
          </a:p>
          <a:p>
            <a:pPr marL="342900" indent="-342900">
              <a:buFont typeface="Aharoni" panose="02010803020104030203" pitchFamily="2" charset="-79"/>
              <a:buChar char="›"/>
            </a:pPr>
            <a:r>
              <a:rPr lang="cs-CZ" sz="2800" dirty="0"/>
              <a:t>Více levelů</a:t>
            </a:r>
          </a:p>
          <a:p>
            <a:pPr marL="342900" indent="-342900">
              <a:buFont typeface="Aharoni" panose="02010803020104030203" pitchFamily="2" charset="-79"/>
              <a:buChar char="›"/>
            </a:pPr>
            <a:r>
              <a:rPr lang="cs-CZ" sz="2800" dirty="0"/>
              <a:t>Přidání </a:t>
            </a:r>
            <a:r>
              <a:rPr lang="cs-CZ" sz="2800" dirty="0" err="1"/>
              <a:t>cut</a:t>
            </a:r>
            <a:r>
              <a:rPr lang="cs-CZ" sz="2800" dirty="0"/>
              <a:t> scén do hry</a:t>
            </a:r>
          </a:p>
          <a:p>
            <a:pPr marL="342900" indent="-342900">
              <a:buFont typeface="Aharoni" panose="02010803020104030203" pitchFamily="2" charset="-79"/>
              <a:buChar char="›"/>
            </a:pPr>
            <a:r>
              <a:rPr lang="cs-CZ" sz="2800" dirty="0"/>
              <a:t>Vylepšení deníku (vytvoření grafiky pro deník)</a:t>
            </a:r>
          </a:p>
          <a:p>
            <a:pPr marL="342900" indent="-342900">
              <a:buFont typeface="Aharoni" panose="02010803020104030203" pitchFamily="2" charset="-79"/>
              <a:buChar char="›"/>
            </a:pPr>
            <a:r>
              <a:rPr lang="cs-CZ" sz="2800" dirty="0"/>
              <a:t>Přidání zbraní do hry</a:t>
            </a:r>
          </a:p>
          <a:p>
            <a:pPr marL="342900" indent="-342900">
              <a:buFont typeface="Aharoni" panose="02010803020104030203" pitchFamily="2" charset="-79"/>
              <a:buChar char="›"/>
            </a:pPr>
            <a:r>
              <a:rPr lang="cs-CZ" sz="2800" dirty="0"/>
              <a:t>Více logických prvků</a:t>
            </a:r>
          </a:p>
          <a:p>
            <a:pPr marL="342900" indent="-342900">
              <a:buFont typeface="Aharoni" panose="02010803020104030203" pitchFamily="2" charset="-79"/>
              <a:buChar char="›"/>
            </a:pPr>
            <a:r>
              <a:rPr lang="cs-CZ" sz="2800" dirty="0"/>
              <a:t>Ukládání stavu hry do souboru (JSON)</a:t>
            </a:r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8209312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97A731-95B8-25AA-216E-0F1226A7C8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5F208DF-5213-90FB-F4CD-574BDB3622E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5"/>
            <a:ext cx="12192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dirty="0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7AC2264A-C890-B346-F123-ED56D76943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5315" y="2654848"/>
            <a:ext cx="3516085" cy="1325563"/>
          </a:xfrm>
        </p:spPr>
        <p:txBody>
          <a:bodyPr>
            <a:normAutofit/>
          </a:bodyPr>
          <a:lstStyle/>
          <a:p>
            <a:pPr algn="l"/>
            <a:r>
              <a:rPr lang="cs-CZ" sz="7200" b="1" dirty="0">
                <a:solidFill>
                  <a:srgbClr val="000000"/>
                </a:solidFill>
                <a:latin typeface="Calibri"/>
              </a:rPr>
              <a:t>Posudky</a:t>
            </a:r>
          </a:p>
        </p:txBody>
      </p:sp>
    </p:spTree>
    <p:extLst>
      <p:ext uri="{BB962C8B-B14F-4D97-AF65-F5344CB8AC3E}">
        <p14:creationId xmlns:p14="http://schemas.microsoft.com/office/powerpoint/2010/main" val="28036048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55AEB7-A866-A397-F16D-57BDEE05F4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F8BCE0F-6BC1-82F9-7D1F-DE1B4B07CD6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5"/>
            <a:ext cx="12192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dirty="0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B8484105-E4FD-5BA7-13F9-835C91A624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Vylepšení na základě Posudků</a:t>
            </a:r>
          </a:p>
        </p:txBody>
      </p:sp>
      <p:sp>
        <p:nvSpPr>
          <p:cNvPr id="3" name="TextovéPole 2">
            <a:extLst>
              <a:ext uri="{FF2B5EF4-FFF2-40B4-BE49-F238E27FC236}">
                <a16:creationId xmlns:a16="http://schemas.microsoft.com/office/drawing/2014/main" id="{99954B93-3141-612B-7BBD-AF389F892CA8}"/>
              </a:ext>
            </a:extLst>
          </p:cNvPr>
          <p:cNvSpPr txBox="1"/>
          <p:nvPr/>
        </p:nvSpPr>
        <p:spPr>
          <a:xfrm>
            <a:off x="936170" y="1828798"/>
            <a:ext cx="6444343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3200" b="1" dirty="0"/>
              <a:t>Klíčové Optimalizace</a:t>
            </a:r>
          </a:p>
          <a:p>
            <a:pPr marL="285750" indent="-285750">
              <a:buFont typeface="Aharoni" panose="02010803020104030203" pitchFamily="2" charset="-79"/>
              <a:buChar char="›"/>
            </a:pPr>
            <a:r>
              <a:rPr lang="cs-CZ" sz="2400" b="1" dirty="0"/>
              <a:t>Skok:</a:t>
            </a:r>
            <a:r>
              <a:rPr lang="cs-CZ" sz="2400" dirty="0"/>
              <a:t> Úprava výšky skoku pro plynulejší hratelnost.</a:t>
            </a:r>
          </a:p>
          <a:p>
            <a:pPr marL="285750" indent="-285750">
              <a:buFont typeface="Aharoni" panose="02010803020104030203" pitchFamily="2" charset="-79"/>
              <a:buChar char="›"/>
            </a:pPr>
            <a:r>
              <a:rPr lang="cs-CZ" sz="2400" b="1" dirty="0"/>
              <a:t>Skip Story:</a:t>
            </a:r>
            <a:r>
              <a:rPr lang="cs-CZ" sz="2400" dirty="0"/>
              <a:t> Implementace přeskočení textu deníku klávesou Enter.</a:t>
            </a:r>
          </a:p>
          <a:p>
            <a:pPr marL="285750" indent="-285750">
              <a:buFont typeface="Aharoni" panose="02010803020104030203" pitchFamily="2" charset="-79"/>
              <a:buChar char="›"/>
            </a:pPr>
            <a:r>
              <a:rPr lang="cs-CZ" sz="2400" b="1" dirty="0"/>
              <a:t>Focus UI:</a:t>
            </a:r>
            <a:r>
              <a:rPr lang="cs-CZ" sz="2400" dirty="0"/>
              <a:t> Menu je nyní plně ovladatelné pouze klávesnicí.</a:t>
            </a:r>
          </a:p>
        </p:txBody>
      </p:sp>
      <p:pic>
        <p:nvPicPr>
          <p:cNvPr id="8" name="Grafický objekt 7" descr="Přehrát se souvislou výplní">
            <a:extLst>
              <a:ext uri="{FF2B5EF4-FFF2-40B4-BE49-F238E27FC236}">
                <a16:creationId xmlns:a16="http://schemas.microsoft.com/office/drawing/2014/main" id="{CB234FEE-D666-6306-73C3-7014063B124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39500" y="113506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21271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0663D8-7BEB-8A53-0171-8246C95733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AB34999-7372-722A-0186-021D36B3EFB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5"/>
            <a:ext cx="12192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dirty="0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9752E87D-B004-3D9C-62A3-AF68F6C66D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Posudky vedoucího maturitní práce</a:t>
            </a:r>
          </a:p>
        </p:txBody>
      </p:sp>
      <p:sp>
        <p:nvSpPr>
          <p:cNvPr id="3" name="TextovéPole 2">
            <a:extLst>
              <a:ext uri="{FF2B5EF4-FFF2-40B4-BE49-F238E27FC236}">
                <a16:creationId xmlns:a16="http://schemas.microsoft.com/office/drawing/2014/main" id="{81A1A51B-D177-13B8-FFD9-3001B263BD67}"/>
              </a:ext>
            </a:extLst>
          </p:cNvPr>
          <p:cNvSpPr txBox="1"/>
          <p:nvPr/>
        </p:nvSpPr>
        <p:spPr>
          <a:xfrm>
            <a:off x="936170" y="1828798"/>
            <a:ext cx="9797144" cy="2185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AutoNum type="arabicPeriod"/>
            </a:pPr>
            <a:r>
              <a:rPr lang="cs-CZ" sz="3200" b="1" dirty="0"/>
              <a:t>Popište využití tutoriálů při práci na vaší hře.</a:t>
            </a:r>
          </a:p>
          <a:p>
            <a:endParaRPr lang="cs-CZ" sz="3200" b="1" dirty="0"/>
          </a:p>
          <a:p>
            <a:pPr marL="742950" lvl="1" indent="-285750">
              <a:buFont typeface="Aharoni" panose="02010803020104030203" pitchFamily="2" charset="-79"/>
              <a:buChar char="›"/>
            </a:pPr>
            <a:r>
              <a:rPr lang="cs-CZ" sz="2400" dirty="0"/>
              <a:t>Pochopení </a:t>
            </a:r>
            <a:r>
              <a:rPr lang="cs-CZ" sz="2400" dirty="0" err="1"/>
              <a:t>enginu</a:t>
            </a:r>
            <a:r>
              <a:rPr lang="cs-CZ" sz="2400" dirty="0"/>
              <a:t> Godot (práce s uzly, signály)</a:t>
            </a:r>
          </a:p>
          <a:p>
            <a:pPr marL="742950" lvl="1" indent="-285750">
              <a:buFont typeface="Aharoni" panose="02010803020104030203" pitchFamily="2" charset="-79"/>
              <a:buChar char="›"/>
            </a:pPr>
            <a:r>
              <a:rPr lang="cs-CZ" sz="2400" dirty="0"/>
              <a:t>Implementování základního pohybu a mechanik</a:t>
            </a:r>
          </a:p>
          <a:p>
            <a:pPr marL="285750" indent="-285750">
              <a:buFont typeface="Aharoni" panose="02010803020104030203" pitchFamily="2" charset="-79"/>
              <a:buChar char="›"/>
            </a:pPr>
            <a:endParaRPr lang="cs-CZ" sz="2400" dirty="0"/>
          </a:p>
        </p:txBody>
      </p:sp>
      <p:pic>
        <p:nvPicPr>
          <p:cNvPr id="8" name="Grafický objekt 7" descr="Přehrát se souvislou výplní">
            <a:extLst>
              <a:ext uri="{FF2B5EF4-FFF2-40B4-BE49-F238E27FC236}">
                <a16:creationId xmlns:a16="http://schemas.microsoft.com/office/drawing/2014/main" id="{061ABEBC-025A-DF3D-5257-D5F6EEB6E8E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39500" y="113506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40131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A2D741-8D66-F3C0-B297-F9799FA088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B114D67-AF59-85DC-2CCC-0654E3A4416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5"/>
            <a:ext cx="12192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dirty="0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89EC9740-BFC9-40EC-0D14-07D81459E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Posudky vedoucího maturitní práce</a:t>
            </a:r>
          </a:p>
        </p:txBody>
      </p:sp>
      <p:sp>
        <p:nvSpPr>
          <p:cNvPr id="3" name="TextovéPole 2">
            <a:extLst>
              <a:ext uri="{FF2B5EF4-FFF2-40B4-BE49-F238E27FC236}">
                <a16:creationId xmlns:a16="http://schemas.microsoft.com/office/drawing/2014/main" id="{B35FC9BA-E3B3-0F33-7B69-5CC36014B42B}"/>
              </a:ext>
            </a:extLst>
          </p:cNvPr>
          <p:cNvSpPr txBox="1"/>
          <p:nvPr/>
        </p:nvSpPr>
        <p:spPr>
          <a:xfrm>
            <a:off x="838200" y="1817912"/>
            <a:ext cx="9797144" cy="2185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3200" b="1" dirty="0"/>
              <a:t>2. Použil jste při práci AI? Pokud ano, jak?</a:t>
            </a:r>
          </a:p>
          <a:p>
            <a:endParaRPr lang="cs-CZ" sz="3200" b="1" dirty="0"/>
          </a:p>
          <a:p>
            <a:pPr marL="742950" lvl="1" indent="-285750">
              <a:buFont typeface="Aharoni" panose="02010803020104030203" pitchFamily="2" charset="-79"/>
              <a:buChar char="›"/>
            </a:pPr>
            <a:r>
              <a:rPr lang="cs-CZ" sz="2400" dirty="0"/>
              <a:t>AI byla použita k tvorbě pozadí</a:t>
            </a:r>
          </a:p>
          <a:p>
            <a:pPr marL="742950" lvl="1" indent="-285750">
              <a:buFont typeface="Aharoni" panose="02010803020104030203" pitchFamily="2" charset="-79"/>
              <a:buChar char="›"/>
            </a:pPr>
            <a:r>
              <a:rPr lang="cs-CZ" sz="2400" dirty="0"/>
              <a:t>AI byla použita ke kontroly gramatiky a struktury dokumentace</a:t>
            </a:r>
          </a:p>
          <a:p>
            <a:pPr marL="285750" indent="-285750">
              <a:buFont typeface="Aharoni" panose="02010803020104030203" pitchFamily="2" charset="-79"/>
              <a:buChar char="›"/>
            </a:pPr>
            <a:endParaRPr lang="cs-CZ" sz="2400" dirty="0"/>
          </a:p>
        </p:txBody>
      </p:sp>
      <p:pic>
        <p:nvPicPr>
          <p:cNvPr id="8" name="Grafický objekt 7" descr="Přehrát se souvislou výplní">
            <a:extLst>
              <a:ext uri="{FF2B5EF4-FFF2-40B4-BE49-F238E27FC236}">
                <a16:creationId xmlns:a16="http://schemas.microsoft.com/office/drawing/2014/main" id="{BA7F49C7-C016-791F-37C4-E840E6A9700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39500" y="113506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58039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BE1F3A-E214-F731-695B-F7912E27C2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4CEC630-E83B-7A4C-FEF3-7E493268220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5"/>
            <a:ext cx="12192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dirty="0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8DE601BD-24CE-A836-15B4-2C733B7101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Posudky vedoucího maturitní práce</a:t>
            </a:r>
          </a:p>
        </p:txBody>
      </p:sp>
      <p:sp>
        <p:nvSpPr>
          <p:cNvPr id="3" name="TextovéPole 2">
            <a:extLst>
              <a:ext uri="{FF2B5EF4-FFF2-40B4-BE49-F238E27FC236}">
                <a16:creationId xmlns:a16="http://schemas.microsoft.com/office/drawing/2014/main" id="{68650C2A-CF86-EDDF-4B72-78E5DF23519C}"/>
              </a:ext>
            </a:extLst>
          </p:cNvPr>
          <p:cNvSpPr txBox="1"/>
          <p:nvPr/>
        </p:nvSpPr>
        <p:spPr>
          <a:xfrm>
            <a:off x="838200" y="1817912"/>
            <a:ext cx="9797144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3200" b="1" dirty="0"/>
              <a:t>3. Která část práce byla nejtěžší? Musel jste řešit nějaké výzvy?</a:t>
            </a:r>
          </a:p>
          <a:p>
            <a:endParaRPr lang="cs-CZ" sz="3200" b="1" dirty="0"/>
          </a:p>
          <a:p>
            <a:pPr marL="742950" lvl="1" indent="-285750">
              <a:buFont typeface="Aharoni" panose="02010803020104030203" pitchFamily="2" charset="-79"/>
              <a:buChar char="›"/>
            </a:pPr>
            <a:r>
              <a:rPr lang="cs-CZ" sz="2400" dirty="0"/>
              <a:t>Technická výzva: Systém logických prvků (Mosty a páčky)</a:t>
            </a:r>
          </a:p>
          <a:p>
            <a:pPr marL="742950" lvl="1" indent="-285750">
              <a:buFont typeface="Aharoni" panose="02010803020104030203" pitchFamily="2" charset="-79"/>
              <a:buChar char="›"/>
            </a:pPr>
            <a:r>
              <a:rPr lang="cs-CZ" sz="2400" dirty="0"/>
              <a:t>Tvorba grafiky</a:t>
            </a:r>
          </a:p>
          <a:p>
            <a:pPr marL="742950" lvl="1" indent="-285750">
              <a:buFont typeface="Aharoni" panose="02010803020104030203" pitchFamily="2" charset="-79"/>
              <a:buChar char="›"/>
            </a:pPr>
            <a:r>
              <a:rPr lang="cs-CZ" sz="2400" dirty="0"/>
              <a:t>Mentální výzva: Nevzdat se při nefungování kódu</a:t>
            </a:r>
          </a:p>
        </p:txBody>
      </p:sp>
      <p:pic>
        <p:nvPicPr>
          <p:cNvPr id="8" name="Grafický objekt 7" descr="Přehrát se souvislou výplní">
            <a:extLst>
              <a:ext uri="{FF2B5EF4-FFF2-40B4-BE49-F238E27FC236}">
                <a16:creationId xmlns:a16="http://schemas.microsoft.com/office/drawing/2014/main" id="{D5BA89AB-F123-BD81-5A99-87EDF4CB47E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39500" y="113506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5660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E70783-5308-525A-19E0-0A449B2591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9E62858-B3DE-96F2-8D1C-FBECA2B2E51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5"/>
            <a:ext cx="12192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dirty="0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F9627627-2150-12A8-333F-3D3AA914D8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Posudky vedoucího maturitní práce</a:t>
            </a:r>
          </a:p>
        </p:txBody>
      </p:sp>
      <p:sp>
        <p:nvSpPr>
          <p:cNvPr id="3" name="TextovéPole 2">
            <a:extLst>
              <a:ext uri="{FF2B5EF4-FFF2-40B4-BE49-F238E27FC236}">
                <a16:creationId xmlns:a16="http://schemas.microsoft.com/office/drawing/2014/main" id="{7BD3502F-0304-4240-1D42-6F00388E161C}"/>
              </a:ext>
            </a:extLst>
          </p:cNvPr>
          <p:cNvSpPr txBox="1"/>
          <p:nvPr/>
        </p:nvSpPr>
        <p:spPr>
          <a:xfrm>
            <a:off x="838200" y="1817912"/>
            <a:ext cx="9797144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3200" b="1" dirty="0"/>
              <a:t>4. Texty před misí jste vymýšlel a překládal sám?</a:t>
            </a:r>
          </a:p>
          <a:p>
            <a:endParaRPr lang="cs-CZ" sz="3200" b="1" dirty="0"/>
          </a:p>
          <a:p>
            <a:pPr marL="742950" lvl="1" indent="-285750">
              <a:buFont typeface="Aharoni" panose="02010803020104030203" pitchFamily="2" charset="-79"/>
              <a:buChar char="›"/>
            </a:pPr>
            <a:r>
              <a:rPr lang="cs-CZ" sz="2400" dirty="0"/>
              <a:t>Texty před misemi jsem vymýšlel sám a k překladu byl využit i překladač, aby text působil více profesionálně</a:t>
            </a:r>
          </a:p>
        </p:txBody>
      </p:sp>
      <p:pic>
        <p:nvPicPr>
          <p:cNvPr id="8" name="Grafický objekt 7" descr="Přehrát se souvislou výplní">
            <a:extLst>
              <a:ext uri="{FF2B5EF4-FFF2-40B4-BE49-F238E27FC236}">
                <a16:creationId xmlns:a16="http://schemas.microsoft.com/office/drawing/2014/main" id="{BB2AACA0-02B6-6A63-26E9-E704D5E0465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39500" y="113506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84872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DDCD72-3EFC-BCAD-21A5-1808C52BDC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F264940-190F-9EA7-1A3A-D3AF9FBE27F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5"/>
            <a:ext cx="12192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dirty="0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C5AA479E-0132-3396-7F96-DFEBA3C04A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Posudky vedoucího maturitní práce</a:t>
            </a:r>
          </a:p>
        </p:txBody>
      </p:sp>
      <p:sp>
        <p:nvSpPr>
          <p:cNvPr id="3" name="TextovéPole 2">
            <a:extLst>
              <a:ext uri="{FF2B5EF4-FFF2-40B4-BE49-F238E27FC236}">
                <a16:creationId xmlns:a16="http://schemas.microsoft.com/office/drawing/2014/main" id="{9B6A2BD5-0EA6-682E-6AD0-EACF8AA38975}"/>
              </a:ext>
            </a:extLst>
          </p:cNvPr>
          <p:cNvSpPr txBox="1"/>
          <p:nvPr/>
        </p:nvSpPr>
        <p:spPr>
          <a:xfrm>
            <a:off x="838200" y="1817912"/>
            <a:ext cx="9797144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3200" b="1" dirty="0"/>
              <a:t>5. Jste si vědom drobné historické nepřesnosti?</a:t>
            </a:r>
          </a:p>
          <a:p>
            <a:endParaRPr lang="cs-CZ" sz="3200" b="1" dirty="0"/>
          </a:p>
          <a:p>
            <a:pPr marL="742950" lvl="1" indent="-285750">
              <a:buFont typeface="Aharoni" panose="02010803020104030203" pitchFamily="2" charset="-79"/>
              <a:buChar char="›"/>
            </a:pPr>
            <a:r>
              <a:rPr lang="cs-CZ" sz="2400" dirty="0"/>
              <a:t>Historické nepřesnosti jsem si vědom, ve hře nikdy nedošlo k dohodě v roce 1973, válka tudíž ve hře pokračovala.</a:t>
            </a:r>
          </a:p>
        </p:txBody>
      </p:sp>
      <p:pic>
        <p:nvPicPr>
          <p:cNvPr id="8" name="Grafický objekt 7" descr="Přehrát se souvislou výplní">
            <a:extLst>
              <a:ext uri="{FF2B5EF4-FFF2-40B4-BE49-F238E27FC236}">
                <a16:creationId xmlns:a16="http://schemas.microsoft.com/office/drawing/2014/main" id="{9636C88C-F23B-D277-DF3C-0DD0AA51C3A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39500" y="113506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40671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A630B5-ABE6-0B7F-2A01-B5A171B86C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1CD3538-5DCF-F03B-EEA2-523D05442CC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5"/>
            <a:ext cx="12192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dirty="0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2AC30718-BF62-EB2C-547B-6084964D1F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Posudky oponenta maturitní práce</a:t>
            </a:r>
          </a:p>
        </p:txBody>
      </p:sp>
      <p:sp>
        <p:nvSpPr>
          <p:cNvPr id="3" name="TextovéPole 2">
            <a:extLst>
              <a:ext uri="{FF2B5EF4-FFF2-40B4-BE49-F238E27FC236}">
                <a16:creationId xmlns:a16="http://schemas.microsoft.com/office/drawing/2014/main" id="{2ABF3DEB-BD42-FB1F-869F-8181B906F192}"/>
              </a:ext>
            </a:extLst>
          </p:cNvPr>
          <p:cNvSpPr txBox="1"/>
          <p:nvPr/>
        </p:nvSpPr>
        <p:spPr>
          <a:xfrm>
            <a:off x="838200" y="1643740"/>
            <a:ext cx="1040130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AutoNum type="arabicPeriod"/>
            </a:pPr>
            <a:r>
              <a:rPr lang="cs-CZ" sz="3200" b="1" dirty="0"/>
              <a:t>Které části grafiky jste tvořil sám a jak jste postupoval? Proč nejsou tyto informace v dokumentaci včetně vašeho postupu, jednotlivých návrhů atd.</a:t>
            </a:r>
          </a:p>
          <a:p>
            <a:endParaRPr lang="cs-CZ" sz="3200" b="1" dirty="0"/>
          </a:p>
          <a:p>
            <a:pPr marL="742950" lvl="1" indent="-285750">
              <a:buFont typeface="Aharoni" panose="02010803020104030203" pitchFamily="2" charset="-79"/>
              <a:buChar char="›"/>
            </a:pPr>
            <a:r>
              <a:rPr lang="cs-CZ" sz="2400" dirty="0"/>
              <a:t>Postavy a interaktivní objekty -&gt; hlavní hrdina, nepřítel (jejich animace chůze, ...) páčky a sklápěcí most. Ke tvorbě grafiky byly využity programy Photoshop a </a:t>
            </a:r>
            <a:r>
              <a:rPr lang="cs-CZ" sz="2400" dirty="0" err="1"/>
              <a:t>Pixelorama</a:t>
            </a:r>
            <a:endParaRPr lang="cs-CZ" sz="2400" dirty="0"/>
          </a:p>
          <a:p>
            <a:pPr marL="742950" lvl="1" indent="-285750">
              <a:buFont typeface="Aharoni" panose="02010803020104030203" pitchFamily="2" charset="-79"/>
              <a:buChar char="›"/>
            </a:pPr>
            <a:r>
              <a:rPr lang="cs-CZ" sz="2400" dirty="0"/>
              <a:t>Pro pozadí džungle byla využita Photoshop AI</a:t>
            </a:r>
          </a:p>
          <a:p>
            <a:pPr marL="742950" lvl="1" indent="-285750">
              <a:buFont typeface="Aharoni" panose="02010803020104030203" pitchFamily="2" charset="-79"/>
              <a:buChar char="›"/>
            </a:pPr>
            <a:r>
              <a:rPr lang="cs-CZ" sz="2400" dirty="0" err="1"/>
              <a:t>TileSet</a:t>
            </a:r>
            <a:r>
              <a:rPr lang="cs-CZ" sz="2400" dirty="0"/>
              <a:t> jsem čerpal z volně dostupných </a:t>
            </a:r>
            <a:r>
              <a:rPr lang="cs-CZ" sz="2400" dirty="0" err="1"/>
              <a:t>TileSetů</a:t>
            </a:r>
            <a:r>
              <a:rPr lang="cs-CZ" sz="2400" dirty="0"/>
              <a:t> (Unity </a:t>
            </a:r>
            <a:r>
              <a:rPr lang="cs-CZ" sz="2400" dirty="0" err="1"/>
              <a:t>Asset</a:t>
            </a:r>
            <a:r>
              <a:rPr lang="cs-CZ" sz="2400" dirty="0"/>
              <a:t> </a:t>
            </a:r>
            <a:r>
              <a:rPr lang="cs-CZ" sz="2400" dirty="0" err="1"/>
              <a:t>Store</a:t>
            </a:r>
            <a:r>
              <a:rPr lang="cs-CZ" sz="2400" dirty="0"/>
              <a:t>)</a:t>
            </a:r>
          </a:p>
        </p:txBody>
      </p:sp>
      <p:pic>
        <p:nvPicPr>
          <p:cNvPr id="8" name="Grafický objekt 7" descr="Přehrát se souvislou výplní">
            <a:extLst>
              <a:ext uri="{FF2B5EF4-FFF2-40B4-BE49-F238E27FC236}">
                <a16:creationId xmlns:a16="http://schemas.microsoft.com/office/drawing/2014/main" id="{FF36337C-F551-171B-B000-D29C8539030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39500" y="113506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6881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167273-E602-C826-AAE3-741F90439D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A832F12-ED9F-B2F2-B074-CA33B689C5C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5"/>
            <a:ext cx="12192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dirty="0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B899D7B0-BBAF-70D3-91FA-C71B00DB3C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Posudky oponenta maturitní práce</a:t>
            </a:r>
          </a:p>
        </p:txBody>
      </p:sp>
      <p:sp>
        <p:nvSpPr>
          <p:cNvPr id="3" name="TextovéPole 2">
            <a:extLst>
              <a:ext uri="{FF2B5EF4-FFF2-40B4-BE49-F238E27FC236}">
                <a16:creationId xmlns:a16="http://schemas.microsoft.com/office/drawing/2014/main" id="{F7BF6DBE-81A4-7186-6A98-3A68AB2B93AD}"/>
              </a:ext>
            </a:extLst>
          </p:cNvPr>
          <p:cNvSpPr txBox="1"/>
          <p:nvPr/>
        </p:nvSpPr>
        <p:spPr>
          <a:xfrm>
            <a:off x="838200" y="1817912"/>
            <a:ext cx="9797144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3200" b="1" dirty="0"/>
              <a:t>2. Jak by jste opravil menu tak, aby nebylo nutné ho proklikávat myší?</a:t>
            </a:r>
          </a:p>
          <a:p>
            <a:endParaRPr lang="cs-CZ" sz="3200" b="1" dirty="0"/>
          </a:p>
          <a:p>
            <a:pPr marL="742950" lvl="1" indent="-285750">
              <a:buFont typeface="Aharoni" panose="02010803020104030203" pitchFamily="2" charset="-79"/>
              <a:buChar char="›"/>
            </a:pPr>
            <a:r>
              <a:rPr lang="cs-CZ" sz="2400" dirty="0"/>
              <a:t>Problém byl vyřešen pomocí implementace </a:t>
            </a:r>
            <a:r>
              <a:rPr lang="cs-CZ" sz="2400" dirty="0" err="1"/>
              <a:t>focus</a:t>
            </a:r>
            <a:r>
              <a:rPr lang="cs-CZ" sz="2400" dirty="0"/>
              <a:t>.</a:t>
            </a:r>
          </a:p>
          <a:p>
            <a:pPr marL="742950" lvl="1" indent="-285750">
              <a:buFont typeface="Aharoni" panose="02010803020104030203" pitchFamily="2" charset="-79"/>
              <a:buChar char="›"/>
            </a:pPr>
            <a:r>
              <a:rPr lang="cs-CZ" sz="2400" dirty="0"/>
              <a:t>Pokud má tlačítko </a:t>
            </a:r>
            <a:r>
              <a:rPr lang="cs-CZ" sz="2400" dirty="0" err="1"/>
              <a:t>focus</a:t>
            </a:r>
            <a:r>
              <a:rPr lang="cs-CZ" sz="2400" dirty="0"/>
              <a:t>, </a:t>
            </a:r>
            <a:r>
              <a:rPr lang="cs-CZ" sz="2400" dirty="0" err="1"/>
              <a:t>engine</a:t>
            </a:r>
            <a:r>
              <a:rPr lang="cs-CZ" sz="2400" dirty="0"/>
              <a:t> automaticky přesunuje pomocí šipek na další tlačítka</a:t>
            </a:r>
          </a:p>
          <a:p>
            <a:pPr marL="742950" lvl="1" indent="-285750">
              <a:buFont typeface="Aharoni" panose="02010803020104030203" pitchFamily="2" charset="-79"/>
              <a:buChar char="›"/>
            </a:pPr>
            <a:endParaRPr lang="cs-CZ" sz="2400" b="1" dirty="0"/>
          </a:p>
        </p:txBody>
      </p:sp>
      <p:pic>
        <p:nvPicPr>
          <p:cNvPr id="8" name="Grafický objekt 7" descr="Přehrát se souvislou výplní">
            <a:extLst>
              <a:ext uri="{FF2B5EF4-FFF2-40B4-BE49-F238E27FC236}">
                <a16:creationId xmlns:a16="http://schemas.microsoft.com/office/drawing/2014/main" id="{29588457-E033-E857-C87F-E47C764465B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39500" y="113506"/>
            <a:ext cx="914400" cy="914400"/>
          </a:xfrm>
          <a:prstGeom prst="rect">
            <a:avLst/>
          </a:prstGeom>
        </p:spPr>
      </p:pic>
      <p:pic>
        <p:nvPicPr>
          <p:cNvPr id="6" name="Obrázek 5">
            <a:extLst>
              <a:ext uri="{FF2B5EF4-FFF2-40B4-BE49-F238E27FC236}">
                <a16:creationId xmlns:a16="http://schemas.microsoft.com/office/drawing/2014/main" id="{D54EF206-6CE0-9C57-18B7-75DF0256CD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74030" y="4699022"/>
            <a:ext cx="6325483" cy="1381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61951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6A1FD4-E33C-013C-73C2-011F91E5D7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FF9961F-6E11-16A7-826E-109CC80D0AF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5"/>
            <a:ext cx="12192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dirty="0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C4946D89-544F-EB25-C8EA-D472B13D72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Posudky oponenta maturitní práce</a:t>
            </a:r>
          </a:p>
        </p:txBody>
      </p:sp>
      <p:sp>
        <p:nvSpPr>
          <p:cNvPr id="3" name="TextovéPole 2">
            <a:extLst>
              <a:ext uri="{FF2B5EF4-FFF2-40B4-BE49-F238E27FC236}">
                <a16:creationId xmlns:a16="http://schemas.microsoft.com/office/drawing/2014/main" id="{55E8F3C5-2102-DE20-F948-0DE262214721}"/>
              </a:ext>
            </a:extLst>
          </p:cNvPr>
          <p:cNvSpPr txBox="1"/>
          <p:nvPr/>
        </p:nvSpPr>
        <p:spPr>
          <a:xfrm>
            <a:off x="838200" y="1817912"/>
            <a:ext cx="9797144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3200" b="1" dirty="0"/>
              <a:t>3. Jak složité by bylo implementovat ukládání stavu hry?</a:t>
            </a:r>
          </a:p>
          <a:p>
            <a:endParaRPr lang="cs-CZ" sz="3200" dirty="0"/>
          </a:p>
          <a:p>
            <a:pPr marL="742950" lvl="1" indent="-285750">
              <a:buFont typeface="Aharoni" panose="02010803020104030203" pitchFamily="2" charset="-79"/>
              <a:buChar char="›"/>
            </a:pPr>
            <a:r>
              <a:rPr lang="cs-CZ" sz="2400" dirty="0"/>
              <a:t>Úkol bych řekl, že není extrémně náročný, udělal bych to pomocí formátu JSON.</a:t>
            </a:r>
          </a:p>
          <a:p>
            <a:pPr marL="742950" lvl="1" indent="-285750">
              <a:buFont typeface="Aharoni" panose="02010803020104030203" pitchFamily="2" charset="-79"/>
              <a:buChar char="›"/>
            </a:pPr>
            <a:r>
              <a:rPr lang="cs-CZ" sz="2400" dirty="0"/>
              <a:t>JSON bych vybral, protože ho GODOT podporuje.</a:t>
            </a:r>
          </a:p>
          <a:p>
            <a:pPr marL="742950" lvl="1" indent="-285750">
              <a:buFont typeface="Aharoni" panose="02010803020104030203" pitchFamily="2" charset="-79"/>
              <a:buChar char="›"/>
            </a:pPr>
            <a:r>
              <a:rPr lang="cs-CZ" sz="2400" dirty="0"/>
              <a:t>Důležitá data jako např. </a:t>
            </a:r>
            <a:r>
              <a:rPr lang="cs-CZ" sz="2400" dirty="0" err="1"/>
              <a:t>aktualni_level</a:t>
            </a:r>
            <a:r>
              <a:rPr lang="cs-CZ" sz="2400" dirty="0"/>
              <a:t> bych poté zapisoval do souboru, který by byl uložen v systémové složce user://, která je k tomuto v Godotu určena</a:t>
            </a:r>
          </a:p>
        </p:txBody>
      </p:sp>
      <p:pic>
        <p:nvPicPr>
          <p:cNvPr id="8" name="Grafický objekt 7" descr="Přehrát se souvislou výplní">
            <a:extLst>
              <a:ext uri="{FF2B5EF4-FFF2-40B4-BE49-F238E27FC236}">
                <a16:creationId xmlns:a16="http://schemas.microsoft.com/office/drawing/2014/main" id="{B343C63B-A251-805F-B657-9A1E30B7E8C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39500" y="113506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81121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2369BF-0DE7-3E09-F44E-012042F107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95FF251-D913-5CE5-FC49-6B61AC5BDED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5"/>
            <a:ext cx="12192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dirty="0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62EA86B1-FBF4-EF3B-FD78-8B0353DE55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12573" y="2103437"/>
            <a:ext cx="8196942" cy="1325563"/>
          </a:xfrm>
        </p:spPr>
        <p:txBody>
          <a:bodyPr>
            <a:normAutofit/>
          </a:bodyPr>
          <a:lstStyle/>
          <a:p>
            <a:pPr algn="l"/>
            <a:r>
              <a:rPr lang="cs-CZ" sz="7200" b="1" dirty="0">
                <a:solidFill>
                  <a:srgbClr val="000000"/>
                </a:solidFill>
                <a:latin typeface="Calibri"/>
              </a:rPr>
              <a:t>Děkuji za pozornost</a:t>
            </a:r>
          </a:p>
        </p:txBody>
      </p:sp>
      <p:sp>
        <p:nvSpPr>
          <p:cNvPr id="3" name="Nadpis 1">
            <a:extLst>
              <a:ext uri="{FF2B5EF4-FFF2-40B4-BE49-F238E27FC236}">
                <a16:creationId xmlns:a16="http://schemas.microsoft.com/office/drawing/2014/main" id="{BE718B18-8EDA-F4F9-5D03-DE8E28D4E456}"/>
              </a:ext>
            </a:extLst>
          </p:cNvPr>
          <p:cNvSpPr txBox="1">
            <a:spLocks/>
          </p:cNvSpPr>
          <p:nvPr/>
        </p:nvSpPr>
        <p:spPr>
          <a:xfrm>
            <a:off x="3309258" y="3566755"/>
            <a:ext cx="819694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cs-CZ" sz="7200" dirty="0">
                <a:solidFill>
                  <a:srgbClr val="000000"/>
                </a:solidFill>
                <a:latin typeface="Calibri"/>
              </a:rPr>
              <a:t>Stanislav Vacula</a:t>
            </a:r>
          </a:p>
        </p:txBody>
      </p:sp>
    </p:spTree>
    <p:extLst>
      <p:ext uri="{BB962C8B-B14F-4D97-AF65-F5344CB8AC3E}">
        <p14:creationId xmlns:p14="http://schemas.microsoft.com/office/powerpoint/2010/main" val="1120900922"/>
      </p:ext>
    </p:extLst>
  </p:cSld>
  <p:clrMapOvr>
    <a:masterClrMapping/>
  </p:clrMapOvr>
</p:sld>
</file>

<file path=ppt/theme/theme1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215</TotalTime>
  <Words>740</Words>
  <Application>Microsoft Office PowerPoint</Application>
  <PresentationFormat>Širokoúhlá obrazovka</PresentationFormat>
  <Paragraphs>110</Paragraphs>
  <Slides>19</Slides>
  <Notes>17</Notes>
  <HiddenSlides>0</HiddenSlides>
  <MMClips>0</MMClips>
  <ScaleCrop>false</ScaleCrop>
  <HeadingPairs>
    <vt:vector size="6" baseType="variant">
      <vt:variant>
        <vt:lpstr>Použitá písma</vt:lpstr>
      </vt:variant>
      <vt:variant>
        <vt:i4>6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19</vt:i4>
      </vt:variant>
    </vt:vector>
  </HeadingPairs>
  <TitlesOfParts>
    <vt:vector size="26" baseType="lpstr">
      <vt:lpstr>Aharoni</vt:lpstr>
      <vt:lpstr>Aptos</vt:lpstr>
      <vt:lpstr>Aptos Display</vt:lpstr>
      <vt:lpstr>Arial</vt:lpstr>
      <vt:lpstr>Calibri</vt:lpstr>
      <vt:lpstr>Wingdings</vt:lpstr>
      <vt:lpstr>Motiv Office</vt:lpstr>
      <vt:lpstr>2D akční hra</vt:lpstr>
      <vt:lpstr>Představení projektu</vt:lpstr>
      <vt:lpstr>Použité nástroje</vt:lpstr>
      <vt:lpstr>Grafika hry</vt:lpstr>
      <vt:lpstr>Ukázka vytvořené grafiky</vt:lpstr>
      <vt:lpstr>Ukázka hry</vt:lpstr>
      <vt:lpstr>Splněné úkoly</vt:lpstr>
      <vt:lpstr>Možnosti rozšíření</vt:lpstr>
      <vt:lpstr>Posudky</vt:lpstr>
      <vt:lpstr>Vylepšení na základě Posudků</vt:lpstr>
      <vt:lpstr>Posudky vedoucího maturitní práce</vt:lpstr>
      <vt:lpstr>Posudky vedoucího maturitní práce</vt:lpstr>
      <vt:lpstr>Posudky vedoucího maturitní práce</vt:lpstr>
      <vt:lpstr>Posudky vedoucího maturitní práce</vt:lpstr>
      <vt:lpstr>Posudky vedoucího maturitní práce</vt:lpstr>
      <vt:lpstr>Posudky oponenta maturitní práce</vt:lpstr>
      <vt:lpstr>Posudky oponenta maturitní práce</vt:lpstr>
      <vt:lpstr>Posudky oponenta maturitní práce</vt:lpstr>
      <vt:lpstr>Děkuji za pozornost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Stanislav Vacula</dc:creator>
  <cp:lastModifiedBy>Stanislav Vacula</cp:lastModifiedBy>
  <cp:revision>68</cp:revision>
  <dcterms:created xsi:type="dcterms:W3CDTF">2026-01-06T07:59:17Z</dcterms:created>
  <dcterms:modified xsi:type="dcterms:W3CDTF">2026-05-13T13:29:20Z</dcterms:modified>
</cp:coreProperties>
</file>